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90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a Timoner-McManus" userId="414334753dd2cc0b" providerId="LiveId" clId="{FEFE2D82-9B72-44B5-8F69-CEE55133CD2F}"/>
    <pc:docChg chg="modSld">
      <pc:chgData name="Patricia Timoner-McManus" userId="414334753dd2cc0b" providerId="LiveId" clId="{FEFE2D82-9B72-44B5-8F69-CEE55133CD2F}" dt="2026-04-14T05:08:29.781" v="60" actId="1076"/>
      <pc:docMkLst>
        <pc:docMk/>
      </pc:docMkLst>
      <pc:sldChg chg="modSp mod">
        <pc:chgData name="Patricia Timoner-McManus" userId="414334753dd2cc0b" providerId="LiveId" clId="{FEFE2D82-9B72-44B5-8F69-CEE55133CD2F}" dt="2026-04-14T05:08:29.781" v="60" actId="1076"/>
        <pc:sldMkLst>
          <pc:docMk/>
          <pc:sldMk cId="0" sldId="263"/>
        </pc:sldMkLst>
        <pc:spChg chg="mod">
          <ac:chgData name="Patricia Timoner-McManus" userId="414334753dd2cc0b" providerId="LiveId" clId="{FEFE2D82-9B72-44B5-8F69-CEE55133CD2F}" dt="2026-04-14T05:07:19.976" v="55" actId="1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8:29.781" v="60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8:03.282" v="59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7:56.356" v="58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7:56.356" v="58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7:56.356" v="5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7:56.356" v="58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8:29.781" v="6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5:08:29.781" v="60" actId="1076"/>
          <ac:spMkLst>
            <pc:docMk/>
            <pc:sldMk cId="0" sldId="263"/>
            <ac:spMk id="10" creationId="{00000000-0000-0000-0000-000000000000}"/>
          </ac:spMkLst>
        </pc:spChg>
      </pc:sldChg>
      <pc:sldChg chg="addSp modSp mod">
        <pc:chgData name="Patricia Timoner-McManus" userId="414334753dd2cc0b" providerId="LiveId" clId="{FEFE2D82-9B72-44B5-8F69-CEE55133CD2F}" dt="2026-04-14T04:42:33.768" v="49" actId="1076"/>
        <pc:sldMkLst>
          <pc:docMk/>
          <pc:sldMk cId="0" sldId="273"/>
        </pc:sldMkLst>
        <pc:spChg chg="mod">
          <ac:chgData name="Patricia Timoner-McManus" userId="414334753dd2cc0b" providerId="LiveId" clId="{FEFE2D82-9B72-44B5-8F69-CEE55133CD2F}" dt="2026-04-14T04:37:03.292" v="40" actId="6549"/>
          <ac:spMkLst>
            <pc:docMk/>
            <pc:sldMk cId="0" sldId="273"/>
            <ac:spMk id="2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6:11.144" v="32" actId="14100"/>
          <ac:spMkLst>
            <pc:docMk/>
            <pc:sldMk cId="0" sldId="273"/>
            <ac:spMk id="3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6:54.940" v="37" actId="14100"/>
          <ac:spMkLst>
            <pc:docMk/>
            <pc:sldMk cId="0" sldId="273"/>
            <ac:spMk id="4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6:54.940" v="37" actId="14100"/>
          <ac:spMkLst>
            <pc:docMk/>
            <pc:sldMk cId="0" sldId="273"/>
            <ac:spMk id="5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6:54.940" v="37" actId="14100"/>
          <ac:spMkLst>
            <pc:docMk/>
            <pc:sldMk cId="0" sldId="273"/>
            <ac:spMk id="6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6:54.940" v="37" actId="14100"/>
          <ac:spMkLst>
            <pc:docMk/>
            <pc:sldMk cId="0" sldId="273"/>
            <ac:spMk id="7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40:40.391" v="46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40:40.391" v="46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9:29.134" v="45" actId="1076"/>
          <ac:spMkLst>
            <pc:docMk/>
            <pc:sldMk cId="0" sldId="273"/>
            <ac:spMk id="10" creationId="{00000000-0000-0000-0000-000000000000}"/>
          </ac:spMkLst>
        </pc:spChg>
        <pc:picChg chg="add mod">
          <ac:chgData name="Patricia Timoner-McManus" userId="414334753dd2cc0b" providerId="LiveId" clId="{FEFE2D82-9B72-44B5-8F69-CEE55133CD2F}" dt="2026-04-14T04:42:33.768" v="49" actId="1076"/>
          <ac:picMkLst>
            <pc:docMk/>
            <pc:sldMk cId="0" sldId="273"/>
            <ac:picMk id="12" creationId="{1959B7F4-3A2C-7D66-2E6D-135E19B0899E}"/>
          </ac:picMkLst>
        </pc:picChg>
      </pc:sldChg>
      <pc:sldChg chg="modSp mod">
        <pc:chgData name="Patricia Timoner-McManus" userId="414334753dd2cc0b" providerId="LiveId" clId="{FEFE2D82-9B72-44B5-8F69-CEE55133CD2F}" dt="2026-04-14T04:35:36.353" v="31" actId="14100"/>
        <pc:sldMkLst>
          <pc:docMk/>
          <pc:sldMk cId="0" sldId="278"/>
        </pc:sldMkLst>
        <pc:spChg chg="mod">
          <ac:chgData name="Patricia Timoner-McManus" userId="414334753dd2cc0b" providerId="LiveId" clId="{FEFE2D82-9B72-44B5-8F69-CEE55133CD2F}" dt="2026-04-14T04:35:36.353" v="31" actId="14100"/>
          <ac:spMkLst>
            <pc:docMk/>
            <pc:sldMk cId="0" sldId="278"/>
            <ac:spMk id="4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3:35.849" v="23" actId="1076"/>
          <ac:spMkLst>
            <pc:docMk/>
            <pc:sldMk cId="0" sldId="278"/>
            <ac:spMk id="5" creationId="{00000000-0000-0000-0000-000000000000}"/>
          </ac:spMkLst>
        </pc:spChg>
      </pc:sldChg>
      <pc:sldChg chg="modSp mod">
        <pc:chgData name="Patricia Timoner-McManus" userId="414334753dd2cc0b" providerId="LiveId" clId="{FEFE2D82-9B72-44B5-8F69-CEE55133CD2F}" dt="2026-04-14T04:32:30.742" v="17" actId="14100"/>
        <pc:sldMkLst>
          <pc:docMk/>
          <pc:sldMk cId="0" sldId="279"/>
        </pc:sldMkLst>
        <pc:spChg chg="mod">
          <ac:chgData name="Patricia Timoner-McManus" userId="414334753dd2cc0b" providerId="LiveId" clId="{FEFE2D82-9B72-44B5-8F69-CEE55133CD2F}" dt="2026-04-14T04:32:30.742" v="17" actId="14100"/>
          <ac:spMkLst>
            <pc:docMk/>
            <pc:sldMk cId="0" sldId="279"/>
            <ac:spMk id="5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30.742" v="17" actId="14100"/>
          <ac:spMkLst>
            <pc:docMk/>
            <pc:sldMk cId="0" sldId="279"/>
            <ac:spMk id="6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30.742" v="17" actId="14100"/>
          <ac:spMkLst>
            <pc:docMk/>
            <pc:sldMk cId="0" sldId="279"/>
            <ac:spMk id="7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30.742" v="17" actId="14100"/>
          <ac:spMkLst>
            <pc:docMk/>
            <pc:sldMk cId="0" sldId="279"/>
            <ac:spMk id="8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30.742" v="17" actId="14100"/>
          <ac:spMkLst>
            <pc:docMk/>
            <pc:sldMk cId="0" sldId="279"/>
            <ac:spMk id="9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30.742" v="17" actId="14100"/>
          <ac:spMkLst>
            <pc:docMk/>
            <pc:sldMk cId="0" sldId="279"/>
            <ac:spMk id="10" creationId="{00000000-0000-0000-0000-000000000000}"/>
          </ac:spMkLst>
        </pc:spChg>
      </pc:sldChg>
      <pc:sldChg chg="modSp mod">
        <pc:chgData name="Patricia Timoner-McManus" userId="414334753dd2cc0b" providerId="LiveId" clId="{FEFE2D82-9B72-44B5-8F69-CEE55133CD2F}" dt="2026-04-14T04:32:14.705" v="16" actId="1076"/>
        <pc:sldMkLst>
          <pc:docMk/>
          <pc:sldMk cId="0" sldId="281"/>
        </pc:sldMkLst>
        <pc:spChg chg="mod">
          <ac:chgData name="Patricia Timoner-McManus" userId="414334753dd2cc0b" providerId="LiveId" clId="{FEFE2D82-9B72-44B5-8F69-CEE55133CD2F}" dt="2026-04-14T04:31:49.076" v="14" actId="6549"/>
          <ac:spMkLst>
            <pc:docMk/>
            <pc:sldMk cId="0" sldId="281"/>
            <ac:spMk id="2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02.009" v="15" actId="14100"/>
          <ac:spMkLst>
            <pc:docMk/>
            <pc:sldMk cId="0" sldId="281"/>
            <ac:spMk id="3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14.705" v="16" actId="1076"/>
          <ac:spMkLst>
            <pc:docMk/>
            <pc:sldMk cId="0" sldId="281"/>
            <ac:spMk id="4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14.705" v="16" actId="1076"/>
          <ac:spMkLst>
            <pc:docMk/>
            <pc:sldMk cId="0" sldId="281"/>
            <ac:spMk id="5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14.705" v="16" actId="1076"/>
          <ac:spMkLst>
            <pc:docMk/>
            <pc:sldMk cId="0" sldId="281"/>
            <ac:spMk id="6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14.705" v="16" actId="1076"/>
          <ac:spMkLst>
            <pc:docMk/>
            <pc:sldMk cId="0" sldId="281"/>
            <ac:spMk id="7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14.705" v="16" actId="1076"/>
          <ac:spMkLst>
            <pc:docMk/>
            <pc:sldMk cId="0" sldId="281"/>
            <ac:spMk id="8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2:14.705" v="16" actId="1076"/>
          <ac:spMkLst>
            <pc:docMk/>
            <pc:sldMk cId="0" sldId="281"/>
            <ac:spMk id="9" creationId="{00000000-0000-0000-0000-000000000000}"/>
          </ac:spMkLst>
        </pc:spChg>
      </pc:sldChg>
      <pc:sldChg chg="modSp mod">
        <pc:chgData name="Patricia Timoner-McManus" userId="414334753dd2cc0b" providerId="LiveId" clId="{FEFE2D82-9B72-44B5-8F69-CEE55133CD2F}" dt="2026-04-14T04:31:21.925" v="10" actId="1076"/>
        <pc:sldMkLst>
          <pc:docMk/>
          <pc:sldMk cId="0" sldId="282"/>
        </pc:sldMkLst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3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15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16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18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19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1:21.925" v="10" actId="1076"/>
          <ac:spMkLst>
            <pc:docMk/>
            <pc:sldMk cId="0" sldId="282"/>
            <ac:spMk id="22" creationId="{00000000-0000-0000-0000-000000000000}"/>
          </ac:spMkLst>
        </pc:spChg>
      </pc:sldChg>
      <pc:sldChg chg="modSp mod">
        <pc:chgData name="Patricia Timoner-McManus" userId="414334753dd2cc0b" providerId="LiveId" clId="{FEFE2D82-9B72-44B5-8F69-CEE55133CD2F}" dt="2026-04-14T04:29:44.466" v="4" actId="255"/>
        <pc:sldMkLst>
          <pc:docMk/>
          <pc:sldMk cId="0" sldId="284"/>
        </pc:sldMkLst>
        <pc:spChg chg="mod">
          <ac:chgData name="Patricia Timoner-McManus" userId="414334753dd2cc0b" providerId="LiveId" clId="{FEFE2D82-9B72-44B5-8F69-CEE55133CD2F}" dt="2026-04-14T04:29:44.466" v="4" actId="255"/>
          <ac:spMkLst>
            <pc:docMk/>
            <pc:sldMk cId="0" sldId="284"/>
            <ac:spMk id="2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29:29.240" v="3" actId="14100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Patricia Timoner-McManus" userId="414334753dd2cc0b" providerId="LiveId" clId="{FEFE2D82-9B72-44B5-8F69-CEE55133CD2F}" dt="2026-04-14T04:30:38.373" v="8" actId="1076"/>
        <pc:sldMkLst>
          <pc:docMk/>
          <pc:sldMk cId="0" sldId="285"/>
        </pc:sldMkLst>
        <pc:spChg chg="mod">
          <ac:chgData name="Patricia Timoner-McManus" userId="414334753dd2cc0b" providerId="LiveId" clId="{FEFE2D82-9B72-44B5-8F69-CEE55133CD2F}" dt="2026-04-14T04:30:20.513" v="5" actId="14100"/>
          <ac:spMkLst>
            <pc:docMk/>
            <pc:sldMk cId="0" sldId="285"/>
            <ac:spMk id="4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20.513" v="5" actId="14100"/>
          <ac:spMkLst>
            <pc:docMk/>
            <pc:sldMk cId="0" sldId="285"/>
            <ac:spMk id="5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20.513" v="5" actId="14100"/>
          <ac:spMkLst>
            <pc:docMk/>
            <pc:sldMk cId="0" sldId="285"/>
            <ac:spMk id="6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20.513" v="5" actId="14100"/>
          <ac:spMkLst>
            <pc:docMk/>
            <pc:sldMk cId="0" sldId="285"/>
            <ac:spMk id="7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20.513" v="5" actId="14100"/>
          <ac:spMkLst>
            <pc:docMk/>
            <pc:sldMk cId="0" sldId="285"/>
            <ac:spMk id="8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20.513" v="5" actId="14100"/>
          <ac:spMkLst>
            <pc:docMk/>
            <pc:sldMk cId="0" sldId="285"/>
            <ac:spMk id="9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20.513" v="5" actId="14100"/>
          <ac:spMkLst>
            <pc:docMk/>
            <pc:sldMk cId="0" sldId="285"/>
            <ac:spMk id="10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38.373" v="8" actId="107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Patricia Timoner-McManus" userId="414334753dd2cc0b" providerId="LiveId" clId="{FEFE2D82-9B72-44B5-8F69-CEE55133CD2F}" dt="2026-04-14T04:30:33.979" v="7" actId="1076"/>
          <ac:spMkLst>
            <pc:docMk/>
            <pc:sldMk cId="0" sldId="285"/>
            <ac:spMk id="12" creationId="{00000000-0000-0000-0000-000000000000}"/>
          </ac:spMkLst>
        </pc:spChg>
      </pc:sldChg>
      <pc:sldChg chg="modSp mod">
        <pc:chgData name="Patricia Timoner-McManus" userId="414334753dd2cc0b" providerId="LiveId" clId="{FEFE2D82-9B72-44B5-8F69-CEE55133CD2F}" dt="2026-04-14T04:30:52.536" v="9" actId="207"/>
        <pc:sldMkLst>
          <pc:docMk/>
          <pc:sldMk cId="0" sldId="287"/>
        </pc:sldMkLst>
        <pc:spChg chg="mod">
          <ac:chgData name="Patricia Timoner-McManus" userId="414334753dd2cc0b" providerId="LiveId" clId="{FEFE2D82-9B72-44B5-8F69-CEE55133CD2F}" dt="2026-04-14T04:30:52.536" v="9" actId="207"/>
          <ac:spMkLst>
            <pc:docMk/>
            <pc:sldMk cId="0" sldId="287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75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09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Models &amp; Goal-Directed Behavior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brain simulate the future — and can a machine do the same?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City College  •  AI &amp; Robotics Program  •  Spring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4374: Neuroscience as a Model for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in the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COMPUTE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 does the brain compute?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179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BUILD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Brain anatomy &amp; neurons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CONNECT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Spiking neural networks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59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SENSE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Sensory processing &amp; perception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797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REMEMBER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Memory &amp;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ATTEND &amp; AWARE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Attention &amp; consciousness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6210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210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DECIDE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Decision making &amp; dopamine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0416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416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SIMULATE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World models &amp; goal-directed behavior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Catch the Ball Before It Arrives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eyes see the ball 300ms ago. But your hand is already in position.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did not react — it PREDICTED.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 simulates where the ball WILL BE and moves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 to that spot before the ball arrives.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baseball outfielder: the ball is still in the air, but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is already running to where it will land.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is prediction. The brain runs a movie of the future.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Neural Signals Are Slow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neural signal: ~70 m/s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eye to visual cortex: ~15 cm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time: 150–200ms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you "see" something, it happened in the past.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predict the present from past patterns.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It's like watching a live sports stream with a 3-second delay.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 compensates by guessing what's happening NOW.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live 200ms in the past. Your world model lives in the present.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Brain Builds a World Model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Karl Friston’s Big Idea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as a Prediction Machine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Every second, your brain generates predictions about what sensory input it EXPECTS to receive.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 sends these predictions DOWN from higher cortex to lower sensory areas.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D700"/>
                </a:solidFill>
              </a:rPr>
              <a:t>Only ERRORS travel upward.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The News Editor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Instead of printing everything, the editor only publishes what’s SURPRISING.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If you predicted it, it doesn’t make headlines.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Your brain works the same way — routine data gets filtered out. Only surprises get attention.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is not a camera. It is a hypothesis generator.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When You’re Wrong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Coffee Cup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reach for your coffee — it’s lighter than expected. Your arm jerks up.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error: weight model was wrong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044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Familiar Route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drive a familiar route and miss your exit because you were on autopilot.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Too-good prediction suppressed awareness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50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Magician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magician makes a coin ‘disappear.’ Your prediction is violated — you gasp.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= large prediction error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the process of correcting prediction errors.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429" y="274320"/>
            <a:ext cx="84255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Minimizing Surprise  Karl Friston’s Unified Theory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77794" y="505024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13954" y="1407158"/>
            <a:ext cx="8046720" cy="150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"Surprise" in the brain = statistical improbability of what just happened given your model.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Energy ≈ How wrong your model is.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 to reduce surprise: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13954" y="28803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6834" y="2926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PERCEIVE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Update your model to fit reality. (Learning)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20194" y="28803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03074" y="2926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Change reality to fit your model. (Active Inference)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3954" y="4135846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34" y="418156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behavior — from blinking to breathing to building a business — is surprise minimization.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Acting to Confirm Your Predictions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view: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coffee → I pick up the cup."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 view: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model predicts I will feel the cup in my hand → I reach to make that prediction true."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beliefs to match reality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56032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76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reality to match beliefs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brain doesn’t react to the world. It acts to confirm its story about the world."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9144000" cy="777240"/>
          </a:xfrm>
          <a:prstGeom prst="rect">
            <a:avLst/>
          </a:prstGeom>
          <a:solidFill>
            <a:srgbClr val="2A1A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8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Misconception: "Doesn’t the Brain WANT Surprises?"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"Wait — I love surprises! How can the brain want to MINIMIZE surprise?"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brain wants EXPECTED surprises.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movie has twists you didn’t see coming but that make sense in hindsight.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surprise (random noise) is aversive.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Expected-but-uncertain (curiosity) is rewarding.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= seeking information that WILL reduce surprise.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seeks to be surprised in the ways it already expects to be surprised.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Brain’s Internal Simulator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does not just react — it SIMULATES.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Hippocampus: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time travel. You can visit your childhood home right now — in your mind.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Cerebellum: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physics of your movements milliseconds before you execute them.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Prefrontal Cortex: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future scenarios for decision making.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Imagination is just your world model running forward without acting.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 Regions as World Model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spatial/episodic simulator.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have I been? Where could I go?"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GPS memory + replay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044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engine for motor actions.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throw at this angle/force, where will the ball land?"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fast game 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50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PREFRONTAL CORTEX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simulator.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do X, what happens next? What about Y?"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chess engine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 in Artificial Intelligence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 &amp; Schmidhuber (2018): World Models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researchers asked: "What if an AI agent learned to dream?"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Visual Model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Autoencoder: Compress raw visual input into a compact representation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4414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Memory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Network: Predict what happens next based on sequence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Controller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neural net that makes decisions using only the compact world model — not raw input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trains entirely in its own dream. Then wakes up and acts in the real world.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in Imagination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real environment briefly (collect some experience)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World Model (V+M) on that experience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Controller in the DREAM (running the World Model instead of the real environment)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the real world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powerful: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1,000× less real-world experience.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chess grandmaster plays most of their games in their head, not on a real board.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Roads to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 only. No internal map.</a:t>
            </a: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"I’ll figure it out as I go."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Classical conditioning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Simple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Needs millions of trials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map, then plan. Simulate before acting.</a:t>
            </a: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me think before I move."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Chess engine, GPS navigation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Sample-efficient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Computationally expensive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does the brain use?  </a:t>
            </a: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— depending on situation and familiarity.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Models You Already Know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 (DeepMind)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chess, Go, Shogi at superhuman level. Trained entirely by playing against itself — using its own world model.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2044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DreamerV3 (DeepMind)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1737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in latent dream space. Masters Atari games, Minecraft, robot control from the same algorithm.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508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MuZero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rules AND the values without being told the game rules. Pure model-based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You Dream: The AI Perspective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0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691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REM sleep, the hippocampus replays the day’s experiences to the cortex.</a:t>
            </a:r>
            <a:endParaRPr lang="en-US" sz="17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offline world model training: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51743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Consolidate new experiences into the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51743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Generalize patterns across events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51743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Simulate novel combinations ("creative dreams")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578134"/>
            <a:ext cx="5373387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3623854"/>
            <a:ext cx="512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deprivation degrades your world model. That’s why fatigued driving is as dangerous as drunk driving.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5356" y="4360091"/>
            <a:ext cx="53733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CONNECTION: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buffers in RL ← directly inspired by hippocampal replay (Module 06)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59B7F4-3A2C-7D66-2E6D-135E19B08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37" y="1285602"/>
            <a:ext cx="2175933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Behavior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Behave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2377440"/>
          </a:xfrm>
          <a:prstGeom prst="roundRect">
            <a:avLst>
              <a:gd name="adj" fmla="val 576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(System 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Automatic. Stimulus → Response.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update when the outcome changes.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Checking your phone every time it buzzes.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2377440"/>
          </a:xfrm>
          <a:prstGeom prst="roundRect">
            <a:avLst>
              <a:gd name="adj" fmla="val 576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(System 2)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Flexible. Outcome-sensitive.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when the goal changes.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Taking a different route when your usual road is blocked.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habit is a world model so well-trained it no longer needs to simulate.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Brain’s Strategic Planning Center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PFC holds your goal in working memory while suppressing distractions.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Means-end reasoning — planning backwards from the goal: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be at the airport at 8am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22860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21945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4320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leave home at 6:30am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wake at 5:30am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21945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4944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set my alarm tonight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PFC maintains the goal across time, even when immediate rewards tempt you to deviate.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project manager who keeps the deadline in mind even while troubleshooting day-to-day fires.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Brain Assigns Expected Value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possible future state, the brain estimates: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reward will I get if I go there?"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VALUE FUNCTION in reinforcement learning.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updates this estimate via dopamine (Module 08):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better than expected  →  dopamine spike  →  increase value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worse than expected  →  dopamine dip  →  decrease value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is constantly asking: "How good will the future be if I take this action?"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Children Touch Everything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1" y="1097280"/>
            <a:ext cx="529336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Infants explore not for food or praise, but because exploring reduces uncertainty about the world.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INTRINSIC MOTIVATION: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for reducing model uncertainty.</a:t>
            </a:r>
            <a:endParaRPr lang="en-US" sz="17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rewards itself for learning, independent of external rewards.</a:t>
            </a:r>
            <a:endParaRPr lang="en-US" sz="17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AI: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intrinsic motivation explore efficiently without reward shaping.</a:t>
            </a:r>
            <a:endParaRPr lang="en-US" sz="17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Curiosity Module (OpenAI), Random Network Distillation (RND), Count-based exploration.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414883"/>
            <a:ext cx="641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"Curiosity is the brain’s built-in world model improvement algorithm."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9144000" cy="777240"/>
          </a:xfrm>
          <a:prstGeom prst="rect">
            <a:avLst/>
          </a:prstGeom>
          <a:solidFill>
            <a:srgbClr val="0A1A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Knowledge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961017" cy="960120"/>
          </a:xfrm>
          <a:prstGeom prst="roundRect">
            <a:avLst>
              <a:gd name="adj" fmla="val 952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56900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 uses a world model of roads to plan your route. Is this model-free or model-based? Why?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961017" cy="960120"/>
          </a:xfrm>
          <a:prstGeom prst="roundRect">
            <a:avLst>
              <a:gd name="adj" fmla="val 952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6900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wake up at 3am to use the bathroom and don’t turn on the lights, which brain system are you using — perception, world model, or both? Explain.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961017" cy="960120"/>
          </a:xfrm>
          <a:prstGeom prst="roundRect">
            <a:avLst>
              <a:gd name="adj" fmla="val 952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56900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 says agents act to CONFIRM predictions, not to maximize reward. How does this explain why people sometimes seek out anxiety-inducing news?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It: Lab 09 Preview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9" y="274320"/>
            <a:ext cx="8563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09 Active Inference Maze Navigator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14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27908"/>
            <a:ext cx="60843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implement a simple agent that navigates a maze by minimizing prediction error — not by maximizing reward.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NumPy, Matplotlib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690948"/>
            <a:ext cx="553126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5×5 grid maze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38420"/>
            <a:ext cx="553126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Agent’s "generative model" (internal belief map)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5892"/>
            <a:ext cx="553126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Bayesian belief update step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33364"/>
            <a:ext cx="553126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Action selection: choose move that minimizes expected surprise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153988"/>
            <a:ext cx="6084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the agent finding the exit by minimizing surprise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Your Code Will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972595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14995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452155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95507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12275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has beliefs about the maze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955075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51760" y="1314995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43200" y="1452155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195507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Input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412275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current position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955075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1314995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6320" y="1452155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95507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Update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412275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updates beliefs (perception)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955075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58000" y="1314995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49440" y="1452155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49440" y="195507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Selection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412275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action to reach goal with least surprise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692435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1520" y="3738155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simplest possible implementation of Karl Friston’s Free Energy Principle.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086" y="274320"/>
            <a:ext cx="85489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World Models May Be the Key to AGI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57663"/>
            <a:ext cx="5598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 (Meta AI):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"LLMs cannot be the foundation of AGI because they model text, not the physical world."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proposal: JEPA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(Joint Embedding Predictive Architecture) — learn world models in abstract latent space.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True intelligence requires a model of physical reality — causality, physics, social dynamics.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robot that can only talk is not intelligent. A robot that can PREDICT is."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World Models Still Can’t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346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LLMs model text distributions — they don’t model the physical world.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46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1032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reasoning: 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X cause 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51032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Grounding: 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symbols to real-world objects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51032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sense: 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drop a ball, it falls"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55264"/>
            <a:ext cx="51032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planning: </a:t>
            </a: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100-step plans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346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exact problems the brain’s world model solves effortlessly.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7003" y="4297680"/>
            <a:ext cx="5346234" cy="640080"/>
          </a:xfrm>
          <a:prstGeom prst="roundRect">
            <a:avLst>
              <a:gd name="adj" fmla="val 14286"/>
            </a:avLst>
          </a:prstGeom>
          <a:solidFill>
            <a:srgbClr val="1A14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0014" y="4297680"/>
            <a:ext cx="510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GPT-4 and a 5-year-old child is a 10-million-year head start on world modeling.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Learned in Module 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Coding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sends predictions down; only errors travel up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92040" y="1143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Energy Principle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behavior minimizes statistical surprise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 to confirm their predictions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simulators of the environment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RL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using the world model, not just trial &amp; error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Behavior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outcome-sensitive action guided by the PFC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B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Neuro-Symbolic AI &amp; Architectures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taught us how the brain SIMULATES the future.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asks: how does the brain REASON about the future?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intelligence: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fuzzy, pattern-based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2860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76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precise, rule-based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uses both. Can AI do the same?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Global Workspace Theory, Logic + Neural Nets, Wolfram Language + Python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2281</Words>
  <Application>Microsoft Office PowerPoint</Application>
  <PresentationFormat>On-screen Show (16:9)</PresentationFormat>
  <Paragraphs>368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Patricia Timoner-McManus</cp:lastModifiedBy>
  <cp:revision>1</cp:revision>
  <dcterms:created xsi:type="dcterms:W3CDTF">2026-03-23T01:25:21Z</dcterms:created>
  <dcterms:modified xsi:type="dcterms:W3CDTF">2026-04-14T05:08:38Z</dcterms:modified>
</cp:coreProperties>
</file>